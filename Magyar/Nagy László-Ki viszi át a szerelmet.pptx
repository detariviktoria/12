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20"/>
  </p:notesMasterIdLst>
  <p:sldIdLst>
    <p:sldId id="256" r:id="rId2"/>
    <p:sldId id="258" r:id="rId3"/>
    <p:sldId id="266" r:id="rId4"/>
    <p:sldId id="260" r:id="rId5"/>
    <p:sldId id="277" r:id="rId6"/>
    <p:sldId id="276" r:id="rId7"/>
    <p:sldId id="263" r:id="rId8"/>
    <p:sldId id="257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65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6" autoAdjust="0"/>
    <p:restoredTop sz="58993" autoAdjust="0"/>
  </p:normalViewPr>
  <p:slideViewPr>
    <p:cSldViewPr snapToGrid="0">
      <p:cViewPr varScale="1">
        <p:scale>
          <a:sx n="66" d="100"/>
          <a:sy n="66" d="100"/>
        </p:scale>
        <p:origin x="2538" y="60"/>
      </p:cViewPr>
      <p:guideLst/>
    </p:cSldViewPr>
  </p:slideViewPr>
  <p:outlineViewPr>
    <p:cViewPr>
      <p:scale>
        <a:sx n="33" d="100"/>
        <a:sy n="33" d="100"/>
      </p:scale>
      <p:origin x="0" y="-46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E09B9-DB76-401C-B695-21CADE15B359}" type="datetimeFigureOut">
              <a:rPr lang="hu-HU" smtClean="0"/>
              <a:t>2025. 03. 21.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858BC-8DC7-4FE9-9A32-E68FC3FB69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559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Nagy László 1925-ben született, egy zalai faluban.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Kiemelkedő 20. századi költők közé tartozik.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Festőművészként is ismert illetve lapszerkesztő 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Költészetében az emberi méltóság, a szabadság és a szeretet védelmezőjeként lépett fel.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Verseiben gyakran ötvözte a népi motívumokat a modern gondolkodásmóddal.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4388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Az 1956-os forradalom leverése mélyen megrendítette a költőt . Ezt a Ki viszi át a szerelmet című verse is bizonyítja.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Ez a verse mindenkinek másról szól, és így van ez jól. Kinek harmóniáról, másnak a tisztesség és az értelem kapcsolatáról, életszeretetről, halálról, megint másnak az érzelmek szembe ütközéséről remény és kétségbeesés között.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külvilág okozta rossz közérzet mellé a feleségéért való aggodalom is társult, aki hosszan tartó betegségben szenvedett.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Versei látomásosok, szimbolikusok, mítosziak.</a:t>
            </a:r>
            <a:endParaRPr lang="hu-HU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1813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„Ki viszi át a szerelmet” 1957-ben íródott, nem sokkal az ’56-os forradalom leverése után.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Kortárs című folyóiratban jelent meg 1964-ben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/>
              <a:t>A korszak tele volt kiábrándultsággal, bizonytalansággal.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Nagy László ebben a versben az emberi értékek továbbviteléről, megőrzéséről elmélkedik.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Nyomatékos ismétlések találhatóak benne, amit később látni fogtok.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kérdés személyes és kollektív egyszerre: ki tudja megőrizni a humánumot, ha a világ széthullik körülöttünk?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3333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vers mindössze 14 sorból áll.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Fokozódó felépítése, csattanó lezárással végződik.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Két fő részre bontjuk a verset: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Első része sorozatos kérések/kérdések felhalmozása amelyek mind ugyan arra a feltételes időhatározói mellékmondattal kezdődnek ez pedig az első sor.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második rész egyetlen egy sorból áll, amely a címben  feltett kérdést ismétli, ezzel keretes szerkezetet adva.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9698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Műfaja: filozófiai dal, modern 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típusa: ars poetica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hangulata: feszült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hangneme: patetikus -&gt; ars poeticának megfelelően emelkedett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hangvétele: aggodalmas, bizakodó: egyre sorjázó kérdései aggodalomról árulkodnak.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Témája: költő értékmentő szerepe</a:t>
            </a:r>
            <a:r>
              <a:rPr lang="hu-H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költői szerepek tovább örökítése.</a:t>
            </a: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vers ritmikája magyaros verselésű, többnyire felező nyolcasokkal.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95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Nagy László ebben a versben nem konkrét válaszokat ad, hanem kérdést hagy ránk – súlyos, létkérdést.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De ezzel együtt rámutat arra is, hogy a költő dolga nem csupán gyönyörködtetni, hanem emlékeztetni, őrizni és figyelmeztetni.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Az ő szerepe itt az, hogy emlékeztessen: vannak dolgok, amiket nem szabad elveszíteni.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178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200" dirty="0">
                <a:solidFill>
                  <a:schemeClr val="bg1"/>
                </a:solidFill>
              </a:rPr>
              <a:t>A költő a halálával néz szembe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200" dirty="0">
                <a:solidFill>
                  <a:schemeClr val="bg1"/>
                </a:solidFill>
              </a:rPr>
              <a:t>Metafora – mintha az élet energia lenne ami le tud merülni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088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200" dirty="0">
                <a:solidFill>
                  <a:schemeClr val="bg1"/>
                </a:solidFill>
              </a:rPr>
              <a:t>A tücsök művész jelkép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200" dirty="0">
                <a:solidFill>
                  <a:schemeClr val="bg1"/>
                </a:solidFill>
              </a:rPr>
              <a:t>Kicsinyítő jellegű, egyszerű puritán életre utal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200" dirty="0">
                <a:solidFill>
                  <a:schemeClr val="bg1"/>
                </a:solidFill>
              </a:rPr>
              <a:t>A tücsök hegedű imádása a költői hivatás szeretetét jelentheti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518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F567-A580-60CF-CF89-F033D8EA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AE16051-C902-7934-04D9-51C6A946F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DBC0C15-DCE7-5030-53B5-F55399C11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,,láng-deres ág” Nagy László korai költészetének egyik meghatározó ellentéte.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,,láng” az ihlet az élet jelképe, ezzel szemben a dér a fagy a halálé.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De figyelmet érdemel a ,,lehel” ige is, amely összekapcsolja a két </a:t>
            </a:r>
            <a:r>
              <a:rPr lang="hu-HU" dirty="0" err="1"/>
              <a:t>motivumot</a:t>
            </a:r>
            <a:r>
              <a:rPr lang="hu-HU" dirty="0"/>
              <a:t>: a lehel ige töve megfelel a lélek szóéval a lélek pedig az élet jelképe.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FF3E354-8E11-0AB0-722C-352FA7D55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6769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B2F1-0A8B-1873-1FCF-B04DE757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46A7E63-62A4-EFB6-2B27-E76A79AC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F71A8F3-386E-F221-38D0-E4B42F78F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Noé történetében a remény és a szövetség szimbóluma. 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A szivárvány lehet a híd az emberek között vagy az ég és a föld között. 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dirty="0"/>
              <a:t>A hozzá kapcsolódó ige a „fölfeszül” a megfeszítést keresztre feszítést idézi. Ez szenvedést sejtet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(A deres ág, szivárvány mind a mesék és mítoszok világába visznek. 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1147003-9162-92F1-EDD0-9CE539539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902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7FAE-F5FD-C2E9-A2E1-6B576AE8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3D54BFB-BF8B-6235-6F0B-9E2627665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1DE9AD2-FD27-965B-FBB9-4EF652C47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,,szikla-csípő” kemény, durva viszont az ölelés sírva mély érzelmekre utal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500A199-BAD2-16C6-9E2F-F9D0741AA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5302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0660-4741-200A-53FB-2A4ECF81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22F712F-9EEF-ABAB-5E92-C290157B1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79A216A-8A12-F9C5-8F5E-F7089CF94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Ez a kép az előzőre épül: sziklát a fal, csípőt a hajak és a verőerek veszik át.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fal az emberi test falait jelenti, a sejteket amelyekben megerjednek a hajak a verőerek.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Felmerül a Kőmíves Kelemen balladája is az élet feláldozásának üzenetével.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Vagyis áldozatoka kell hozni azért, hogy a fal álljon, azaz az emberi test, az ember éljen.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A0EF092-BBE9-25B2-836F-98945B428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8363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83AA3-D7DB-E331-5A48-3B51D568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E664A7F-B62D-5ABC-2C31-2274B6FA4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98692FB-A09F-050D-B3A3-869AF5167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dúlt hitek a kiábrándulásra utal: az ember küzd megpróbál elérni valamit és végül csalódik abban amiben hitt.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Ez a csalódottság váltja ki a káromkodást, amelyből katedrálist építeni nyilván paradoxon.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De az ideálok értékesek, még akkor is ha nem valósulnak meg.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B8743A7-D314-8BD9-E9BB-A23124B2B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5996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7516-47E6-E01F-E512-2A562057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74CB20C-994A-94A3-8DC6-BB4F6874C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C5BC34B-7C36-14F0-0826-BC712B5C2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halál képzete újra megjelenik a nyitó sorral és a keselyű képében is.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,,</a:t>
            </a:r>
            <a:r>
              <a:rPr lang="hu-HU" dirty="0" err="1"/>
              <a:t>lemerűl</a:t>
            </a:r>
            <a:r>
              <a:rPr lang="hu-HU" dirty="0"/>
              <a:t>” szó a víz alá merülést asszociálja, így eszünkbe Juthat róla a </a:t>
            </a:r>
            <a:r>
              <a:rPr lang="hu-HU" dirty="0" err="1"/>
              <a:t>Léthe</a:t>
            </a:r>
            <a:r>
              <a:rPr lang="hu-HU" dirty="0"/>
              <a:t> az alvilág folyója, a felejtés vize.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Az abban való elmerülés biztossá teszi a lét elfelejtését.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létem szó hangzása, hasonlít a </a:t>
            </a:r>
            <a:r>
              <a:rPr lang="hu-HU" dirty="0" err="1"/>
              <a:t>Léthe</a:t>
            </a:r>
            <a:r>
              <a:rPr lang="hu-HU" dirty="0"/>
              <a:t> hangzására.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A beszélő  nem a saját életét félti, hanem hogy költőként sem lesz többé és halálával elvesznék az értékek.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798612E-3188-9C3B-1813-2203D02BE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3841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73086-6DA5-A158-AFBB-5EFDF6807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FA0CC45-A68A-11BA-4B1A-CCD59DE5E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48214EB-76B2-B718-6938-4C4816941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Megismétli a címben elhangzó kérdést, de immár nem kérdésként hanem utasításként, parancsként van jelen.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Itt már a part határozottan utal a folyóra.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,,fogában tartva” a megmentést jelenti: mint az anyaállat a kicsinyét.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Nekünk embereknek úgy kell védenünk az értekeinket, mint anya a gyermekét.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A versben a legnagyobb érték a szerelem.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A vers zárlata </a:t>
            </a:r>
            <a:r>
              <a:rPr lang="hu-HU" dirty="0" err="1"/>
              <a:t>kb</a:t>
            </a:r>
            <a:r>
              <a:rPr lang="hu-HU" dirty="0"/>
              <a:t> arra utal, hogy a költő halála után, ki az aki tovább viszi az értékeket.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FA17D33-9DB6-5428-1A74-1FF260390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7036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„Ki viszi át a szerelmet” nemcsak a magyar irodalom egyik legszebb verse, hanem egy örök érvényű költői üzenet 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 Egy kiáltvány a szeretet, a hit, az emberi tisztaság mellett – egy olyan világban, ahol mindezek elveszni látszanak.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dirty="0"/>
              <a:t>És mindannyiunkhoz szól.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858BC-8DC7-4FE9-9A32-E68FC3FB69E7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172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85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5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0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1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8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4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0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7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21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35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6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79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7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5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086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6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41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54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5E5B20-C0C6-B32E-9943-5D0E0A2102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071" r="10062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47535D3-032F-B9B2-9C05-FD2055E78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Nagy László: Ki viszi át a szerelmet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3DC7CED-FFB6-5A6E-A4CE-914BCACDC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9432"/>
            <a:ext cx="9144000" cy="1225296"/>
          </a:xfrm>
        </p:spPr>
        <p:txBody>
          <a:bodyPr>
            <a:normAutofit/>
          </a:bodyPr>
          <a:lstStyle/>
          <a:p>
            <a:pPr algn="ctr"/>
            <a:r>
              <a:rPr lang="hu-HU" sz="2400" dirty="0">
                <a:solidFill>
                  <a:schemeClr val="tx1"/>
                </a:solidFill>
              </a:rPr>
              <a:t>Készítette: Détári Viktória</a:t>
            </a:r>
          </a:p>
        </p:txBody>
      </p:sp>
    </p:spTree>
    <p:extLst>
      <p:ext uri="{BB962C8B-B14F-4D97-AF65-F5344CB8AC3E}">
        <p14:creationId xmlns:p14="http://schemas.microsoft.com/office/powerpoint/2010/main" val="1195291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 descr="A képen Emberi arc, portré, személy, fekete-fehé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FFD7CCE-A916-3D0E-CD02-55691379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88" y="1183021"/>
            <a:ext cx="3368969" cy="449195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65EAF23-6D31-8112-63C8-DCF1C9D6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638089"/>
            <a:ext cx="5337270" cy="1476801"/>
          </a:xfrm>
        </p:spPr>
        <p:txBody>
          <a:bodyPr anchor="b">
            <a:normAutofit fontScale="90000"/>
          </a:bodyPr>
          <a:lstStyle/>
          <a:p>
            <a:r>
              <a:rPr lang="hu-HU" sz="5600" dirty="0">
                <a:solidFill>
                  <a:srgbClr val="FFFFFF"/>
                </a:solidFill>
              </a:rPr>
              <a:t>Nagy László (1925-1978)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DEEC5-3D47-7B3F-8D44-E8F26801B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847" y="2639752"/>
            <a:ext cx="5910694" cy="386060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hu-HU" sz="3200" dirty="0">
                <a:solidFill>
                  <a:schemeClr val="tx1"/>
                </a:solidFill>
                <a:latin typeface="Agency FB" panose="020B0503020202020204" pitchFamily="34" charset="0"/>
              </a:rPr>
              <a:t>1925–1978, </a:t>
            </a:r>
            <a:r>
              <a:rPr lang="hu-HU" sz="3200" dirty="0" err="1">
                <a:solidFill>
                  <a:schemeClr val="tx1"/>
                </a:solidFill>
                <a:latin typeface="Agency FB" panose="020B0503020202020204" pitchFamily="34" charset="0"/>
              </a:rPr>
              <a:t>Felsőiszkáz</a:t>
            </a:r>
            <a:endParaRPr lang="hu-HU" sz="3200" dirty="0">
              <a:solidFill>
                <a:schemeClr val="tx1"/>
              </a:solidFill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hu-HU" sz="3200" dirty="0">
                <a:solidFill>
                  <a:schemeClr val="tx1"/>
                </a:solidFill>
                <a:latin typeface="Agency FB" panose="020B0503020202020204" pitchFamily="34" charset="0"/>
              </a:rPr>
              <a:t>Kiemelkedő 20. századi magyar költő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tx1"/>
                </a:solidFill>
                <a:latin typeface="Agency FB" panose="020B0503020202020204" pitchFamily="34" charset="0"/>
              </a:rPr>
              <a:t>Festőművészként is alkotott, lapszerkesztő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tx1"/>
                </a:solidFill>
                <a:latin typeface="Agency FB" panose="020B0503020202020204" pitchFamily="34" charset="0"/>
              </a:rPr>
              <a:t>Felesége: Szécsi Margit, költőtársa</a:t>
            </a:r>
          </a:p>
          <a:p>
            <a:pPr marL="0" indent="0">
              <a:buNone/>
            </a:pPr>
            <a:r>
              <a:rPr lang="hu-HU" sz="3200" dirty="0">
                <a:solidFill>
                  <a:schemeClr val="tx1"/>
                </a:solidFill>
                <a:latin typeface="Agency FB" panose="020B0503020202020204" pitchFamily="34" charset="0"/>
              </a:rPr>
              <a:t>Mélyen elkötelezett a humánum, az emberi értékek mellett</a:t>
            </a:r>
            <a:endParaRPr lang="en-US" sz="3200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341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D19AF8DC-6694-EA20-9525-16C1EDC9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hu-HU" sz="3200" dirty="0">
                <a:solidFill>
                  <a:schemeClr val="tx1"/>
                </a:solidFill>
              </a:rPr>
              <a:t>Nagy László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A6028A-5154-581F-93E1-BBD09EDEC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532" y="899163"/>
            <a:ext cx="6017377" cy="5059673"/>
          </a:xfrm>
        </p:spPr>
        <p:txBody>
          <a:bodyPr anchor="ctr">
            <a:normAutofit/>
          </a:bodyPr>
          <a:lstStyle/>
          <a:p>
            <a:r>
              <a:rPr lang="hu-H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Az 1956-os forradalom leverése mélyen megrendítette a költőt . </a:t>
            </a:r>
          </a:p>
          <a:p>
            <a:r>
              <a:rPr lang="hu-H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Ez a verse mindenkinek másról szól, és így van ez jól. </a:t>
            </a:r>
          </a:p>
          <a:p>
            <a:r>
              <a:rPr lang="hu-H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külvilág okozta rossz közérzet mellé a feleségéért való aggodalom is társult.</a:t>
            </a:r>
          </a:p>
          <a:p>
            <a:r>
              <a:rPr lang="hu-H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Versei látomásosok, szimbolikusok, mítosziak.</a:t>
            </a:r>
          </a:p>
        </p:txBody>
      </p:sp>
    </p:spTree>
    <p:extLst>
      <p:ext uri="{BB962C8B-B14F-4D97-AF65-F5344CB8AC3E}">
        <p14:creationId xmlns:p14="http://schemas.microsoft.com/office/powerpoint/2010/main" val="3984040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D346A847-CB44-2338-96C4-98A401B54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hu-HU" dirty="0">
                <a:solidFill>
                  <a:schemeClr val="tx1"/>
                </a:solidFill>
              </a:rPr>
              <a:t>Ki viszi át a szerelmet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F34FC54B-DAB3-54CC-5C60-28EC69B6A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41403" y="914400"/>
            <a:ext cx="5966810" cy="48580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Yu Gothic Light" panose="020B0300000000000000" pitchFamily="34" charset="-128"/>
              <a:buChar char="♥"/>
              <a:tabLst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1957 – forradalom utáni megtorlások idején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Yu Gothic Light" panose="020B0300000000000000" pitchFamily="34" charset="-128"/>
              <a:buChar char="♥"/>
            </a:pPr>
            <a:r>
              <a:rPr lang="hu-HU" sz="2200" b="0" i="0" dirty="0">
                <a:solidFill>
                  <a:schemeClr val="tx1"/>
                </a:solidFill>
                <a:effectLst/>
                <a:latin typeface="Aptos" panose="020F0502020204030204" pitchFamily="34" charset="0"/>
              </a:rPr>
              <a:t>1964 – Kortárs című folyóirat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Yu Gothic Light" panose="020B0300000000000000" pitchFamily="34" charset="-128"/>
              <a:buChar char="♥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Korszak tele volt kiábrándultsággal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Yu Gothic Light" panose="020B0300000000000000" pitchFamily="34" charset="-128"/>
              <a:buChar char="♥"/>
              <a:tabLst/>
            </a:pPr>
            <a:r>
              <a:rPr lang="hu-HU" altLang="hu-HU" sz="2200" dirty="0">
                <a:solidFill>
                  <a:schemeClr val="tx1"/>
                </a:solidFill>
                <a:latin typeface="Aptos Mono" panose="020F0502020204030204" pitchFamily="49" charset="0"/>
              </a:rPr>
              <a:t>Emberi értékek megőrzéséről elmélkedik a költő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Yu Gothic Light" panose="020B0300000000000000" pitchFamily="34" charset="-128"/>
              <a:buChar char="♥"/>
            </a:pPr>
            <a:r>
              <a:rPr lang="hu-HU" sz="2200" dirty="0">
                <a:solidFill>
                  <a:schemeClr val="tx1"/>
                </a:solidFill>
                <a:latin typeface="Aptos Mono" panose="020B0009020202020204" pitchFamily="49" charset="0"/>
                <a:cs typeface="Times New Roman" panose="02020603050405020304" pitchFamily="18" charset="0"/>
              </a:rPr>
              <a:t>Nyomatékos ismétlések („ki viszi át…”)</a:t>
            </a:r>
            <a:endParaRPr kumimoji="0" lang="hu-HU" altLang="hu-H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Mono" panose="020B0009020202020204" pitchFamily="49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Yu Gothic Light" panose="020B0300000000000000" pitchFamily="34" charset="-128"/>
              <a:buChar char="♥"/>
              <a:tabLst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Egzisztenciális kérdések: Ki őrzi meg az emberi értékeket a nehéz időkben?</a:t>
            </a:r>
          </a:p>
        </p:txBody>
      </p:sp>
    </p:spTree>
    <p:extLst>
      <p:ext uri="{BB962C8B-B14F-4D97-AF65-F5344CB8AC3E}">
        <p14:creationId xmlns:p14="http://schemas.microsoft.com/office/powerpoint/2010/main" val="2594684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85CB240A-5D79-C5C3-EA33-5BB50647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826" y="434730"/>
            <a:ext cx="5171185" cy="5988539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hu-HU" sz="2400" b="1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Létem ha végleg </a:t>
            </a:r>
            <a:r>
              <a:rPr lang="hu-HU" sz="24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lemerűlt</a:t>
            </a: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,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ki imád tücsök-hegedűt?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Lángot ki lehel deres ágra?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Ki feszül föl a szivárványra?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Lágy hantú mezővé a szikla-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csípőket ki öleli sírva?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Ki becéz falban megeredt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hajakat, verőereket?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S dúlt hiteknek kicsoda állít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káromkodásból katedrálist?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Létem ha végleg </a:t>
            </a:r>
            <a:r>
              <a:rPr lang="hu-HU" sz="24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lemerűlt</a:t>
            </a: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,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ki rettenti a keselyűt!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S ki viszi át fogában tartva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a Szerelmet a túlsó partra!</a:t>
            </a:r>
            <a:br>
              <a:rPr lang="hu-HU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015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AC09E04-3FAA-EAF2-9938-2364FEA4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hu-HU" sz="3200" dirty="0">
                <a:solidFill>
                  <a:schemeClr val="tx1"/>
                </a:solidFill>
              </a:rPr>
              <a:t>Ki viszi át a szerelmet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54FB82-A26F-C44A-FC14-F5006C2BE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424" y="869795"/>
            <a:ext cx="5591849" cy="5196468"/>
          </a:xfrm>
        </p:spPr>
        <p:txBody>
          <a:bodyPr anchor="ctr">
            <a:normAutofit/>
          </a:bodyPr>
          <a:lstStyle/>
          <a:p>
            <a:endParaRPr lang="hu-H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Műfaja: filozófiai dal, modern dal</a:t>
            </a:r>
          </a:p>
          <a:p>
            <a:r>
              <a:rPr lang="hu-HU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hu-HU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ípusa: ars poetica</a:t>
            </a:r>
          </a:p>
          <a:p>
            <a:r>
              <a:rPr lang="hu-HU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hu-HU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angulata: feszült</a:t>
            </a:r>
          </a:p>
          <a:p>
            <a:r>
              <a:rPr lang="hu-HU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hu-HU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angneme: patetikus </a:t>
            </a:r>
          </a:p>
          <a:p>
            <a:r>
              <a:rPr lang="hu-HU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hu-HU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angvétele: aggodalmas, bizakodó</a:t>
            </a:r>
          </a:p>
          <a:p>
            <a:r>
              <a:rPr lang="hu-HU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Témája: költő értékmentő szerepe</a:t>
            </a:r>
            <a:endParaRPr lang="hu-H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hu-HU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Ritmikája: magyaros verselésű</a:t>
            </a:r>
            <a:endParaRPr lang="hu-H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hu-H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hu-H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79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23EB5F-1412-FA9C-1915-F45D1D62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költő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2482F4-FA95-4AE2-8FD9-54C54CB3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költő: értékőrző, útmutató</a:t>
            </a:r>
          </a:p>
          <a:p>
            <a:r>
              <a:rPr lang="hu-HU" sz="2400" dirty="0"/>
              <a:t>Nem a válaszokat adja meg, hanem a kérdést tartja életben</a:t>
            </a:r>
          </a:p>
          <a:p>
            <a:r>
              <a:rPr lang="hu-HU" sz="2400" dirty="0"/>
              <a:t>Erkölcsi felelősség vállalása</a:t>
            </a:r>
          </a:p>
        </p:txBody>
      </p:sp>
    </p:spTree>
    <p:extLst>
      <p:ext uri="{BB962C8B-B14F-4D97-AF65-F5344CB8AC3E}">
        <p14:creationId xmlns:p14="http://schemas.microsoft.com/office/powerpoint/2010/main" val="4048787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D6ED5AF-D8CE-2C53-262A-38BC68FB4D0E}"/>
              </a:ext>
            </a:extLst>
          </p:cNvPr>
          <p:cNvSpPr txBox="1"/>
          <p:nvPr/>
        </p:nvSpPr>
        <p:spPr>
          <a:xfrm>
            <a:off x="6392492" y="1637067"/>
            <a:ext cx="4511146" cy="3577721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sz="2400" dirty="0">
                <a:solidFill>
                  <a:schemeClr val="bg1"/>
                </a:solidFill>
              </a:rPr>
              <a:t>A költő a halálával néz szembe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</a:rPr>
              <a:t>Metafora – mintha az élet energia lenne ami le tud merülni</a:t>
            </a:r>
          </a:p>
          <a:p>
            <a:r>
              <a:rPr lang="hu-HU" dirty="0"/>
              <a:t>.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BE771F1-0855-D0D5-02BB-90E2D72B7093}"/>
              </a:ext>
            </a:extLst>
          </p:cNvPr>
          <p:cNvSpPr txBox="1"/>
          <p:nvPr/>
        </p:nvSpPr>
        <p:spPr>
          <a:xfrm>
            <a:off x="643466" y="3123376"/>
            <a:ext cx="6542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3200" dirty="0"/>
              <a:t>Létem ha végleg </a:t>
            </a:r>
            <a:r>
              <a:rPr lang="hu-HU" sz="3200" dirty="0" err="1"/>
              <a:t>lemerűlt</a:t>
            </a:r>
            <a:r>
              <a:rPr lang="hu-HU" sz="3200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26C1772A-5374-99ED-7A06-0CEC2925276A}"/>
              </a:ext>
            </a:extLst>
          </p:cNvPr>
          <p:cNvSpPr txBox="1"/>
          <p:nvPr/>
        </p:nvSpPr>
        <p:spPr>
          <a:xfrm>
            <a:off x="654121" y="3558316"/>
            <a:ext cx="3702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A1D00F1-E3E1-433B-BDAC-A074315AB2A9}"/>
              </a:ext>
            </a:extLst>
          </p:cNvPr>
          <p:cNvSpPr txBox="1"/>
          <p:nvPr/>
        </p:nvSpPr>
        <p:spPr>
          <a:xfrm>
            <a:off x="654121" y="3881481"/>
            <a:ext cx="372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A862D78D-49D7-F1F4-E233-2FA4C84309BF}"/>
              </a:ext>
            </a:extLst>
          </p:cNvPr>
          <p:cNvSpPr txBox="1"/>
          <p:nvPr/>
        </p:nvSpPr>
        <p:spPr>
          <a:xfrm>
            <a:off x="651170" y="4182524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 dirty="0"/>
              <a:t>Ki feszül föl a szivárványra?</a:t>
            </a:r>
            <a:endParaRPr lang="hu-HU" dirty="0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27AEAE8F-27B7-052B-32F4-A0672ECCB813}"/>
              </a:ext>
            </a:extLst>
          </p:cNvPr>
          <p:cNvSpPr txBox="1"/>
          <p:nvPr/>
        </p:nvSpPr>
        <p:spPr>
          <a:xfrm>
            <a:off x="651170" y="4465502"/>
            <a:ext cx="3206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Lágy hantú mezővé a szikla-</a:t>
            </a:r>
          </a:p>
          <a:p>
            <a:pPr marL="0" indent="0">
              <a:buNone/>
            </a:pPr>
            <a:r>
              <a:rPr lang="hu-HU" sz="1800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BA8343B4-8F85-FD6C-7FA8-F17EE3022019}"/>
              </a:ext>
            </a:extLst>
          </p:cNvPr>
          <p:cNvSpPr txBox="1"/>
          <p:nvPr/>
        </p:nvSpPr>
        <p:spPr>
          <a:xfrm>
            <a:off x="651170" y="5049523"/>
            <a:ext cx="2933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Ki becéz falban megeredt</a:t>
            </a:r>
          </a:p>
          <a:p>
            <a:pPr marL="0" indent="0">
              <a:buNone/>
            </a:pPr>
            <a:r>
              <a:rPr lang="hu-HU" sz="1800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D5538506-0FAE-DED7-E78D-E9C5F57CBC06}"/>
              </a:ext>
            </a:extLst>
          </p:cNvPr>
          <p:cNvSpPr txBox="1"/>
          <p:nvPr/>
        </p:nvSpPr>
        <p:spPr>
          <a:xfrm>
            <a:off x="651170" y="5649687"/>
            <a:ext cx="348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dúlt hiteknek kicsoda állít</a:t>
            </a:r>
          </a:p>
          <a:p>
            <a:pPr marL="0" indent="0">
              <a:buNone/>
            </a:pPr>
            <a:r>
              <a:rPr lang="hu-HU" sz="18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80B02CBA-6611-827F-F3F3-BA3D83114F54}"/>
              </a:ext>
            </a:extLst>
          </p:cNvPr>
          <p:cNvSpPr txBox="1"/>
          <p:nvPr/>
        </p:nvSpPr>
        <p:spPr>
          <a:xfrm>
            <a:off x="651170" y="6233708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0CD3CE2C-DCDE-C168-F284-69889B29067F}"/>
              </a:ext>
            </a:extLst>
          </p:cNvPr>
          <p:cNvSpPr txBox="1"/>
          <p:nvPr/>
        </p:nvSpPr>
        <p:spPr>
          <a:xfrm>
            <a:off x="648219" y="6692775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D1E74689-F3CF-7602-6C87-F4AC350A38A1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47076FB8-0AE3-9E4D-FAE8-C7CEEAB1E2F0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36" name="Kép 35">
            <a:extLst>
              <a:ext uri="{FF2B5EF4-FFF2-40B4-BE49-F238E27FC236}">
                <a16:creationId xmlns:a16="http://schemas.microsoft.com/office/drawing/2014/main" id="{AC2749AD-1ACE-AFFA-FFC9-E38152EE7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69811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319F9-5015-CEAB-97A8-1C7E72E7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881CACE-F722-68B4-41CF-48EE42DD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0F7E5D-143E-7DDF-C3AE-460EFA6A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EDE7D-5B0B-3344-EE02-01D916A2C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17858B-0349-20F0-5812-4B96ECFE0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9380CC5-8466-240B-4D1A-321F195E8FAF}"/>
              </a:ext>
            </a:extLst>
          </p:cNvPr>
          <p:cNvSpPr txBox="1"/>
          <p:nvPr/>
        </p:nvSpPr>
        <p:spPr>
          <a:xfrm>
            <a:off x="651170" y="2854497"/>
            <a:ext cx="65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B599453-AB0A-A094-A11D-02E33B18ECCB}"/>
              </a:ext>
            </a:extLst>
          </p:cNvPr>
          <p:cNvSpPr txBox="1"/>
          <p:nvPr/>
        </p:nvSpPr>
        <p:spPr>
          <a:xfrm>
            <a:off x="643466" y="3144591"/>
            <a:ext cx="52073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5F706B88-C28E-DA32-481C-3809471E3531}"/>
              </a:ext>
            </a:extLst>
          </p:cNvPr>
          <p:cNvSpPr txBox="1"/>
          <p:nvPr/>
        </p:nvSpPr>
        <p:spPr>
          <a:xfrm>
            <a:off x="688449" y="3634172"/>
            <a:ext cx="372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70968566-85EA-9DED-9FB8-FA2058A635EA}"/>
              </a:ext>
            </a:extLst>
          </p:cNvPr>
          <p:cNvSpPr txBox="1"/>
          <p:nvPr/>
        </p:nvSpPr>
        <p:spPr>
          <a:xfrm>
            <a:off x="685498" y="3935215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 dirty="0"/>
              <a:t>Ki feszül föl a szivárványra?</a:t>
            </a:r>
            <a:endParaRPr lang="hu-HU" dirty="0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D8A21F2-39EC-DFD8-D8CA-B7DE3241CC2C}"/>
              </a:ext>
            </a:extLst>
          </p:cNvPr>
          <p:cNvSpPr txBox="1"/>
          <p:nvPr/>
        </p:nvSpPr>
        <p:spPr>
          <a:xfrm>
            <a:off x="685498" y="4218193"/>
            <a:ext cx="3206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Lágy hantú mezővé a szikla-</a:t>
            </a:r>
          </a:p>
          <a:p>
            <a:pPr marL="0" indent="0">
              <a:buNone/>
            </a:pPr>
            <a:r>
              <a:rPr lang="hu-HU" sz="1800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6ECA3EBD-CF5E-FA9E-449F-5B133742ABF4}"/>
              </a:ext>
            </a:extLst>
          </p:cNvPr>
          <p:cNvSpPr txBox="1"/>
          <p:nvPr/>
        </p:nvSpPr>
        <p:spPr>
          <a:xfrm>
            <a:off x="685498" y="4802214"/>
            <a:ext cx="2933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Ki becéz falban megeredt</a:t>
            </a:r>
          </a:p>
          <a:p>
            <a:pPr marL="0" indent="0">
              <a:buNone/>
            </a:pPr>
            <a:r>
              <a:rPr lang="hu-HU" sz="1800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9CA14539-81D0-6618-BD52-3BF2CED99994}"/>
              </a:ext>
            </a:extLst>
          </p:cNvPr>
          <p:cNvSpPr txBox="1"/>
          <p:nvPr/>
        </p:nvSpPr>
        <p:spPr>
          <a:xfrm>
            <a:off x="685498" y="5402378"/>
            <a:ext cx="348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dúlt hiteknek kicsoda állít</a:t>
            </a:r>
          </a:p>
          <a:p>
            <a:pPr marL="0" indent="0">
              <a:buNone/>
            </a:pPr>
            <a:r>
              <a:rPr lang="hu-HU" sz="18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A295B51B-CC78-B315-2DDE-D6C90267E270}"/>
              </a:ext>
            </a:extLst>
          </p:cNvPr>
          <p:cNvSpPr txBox="1"/>
          <p:nvPr/>
        </p:nvSpPr>
        <p:spPr>
          <a:xfrm>
            <a:off x="685498" y="5986399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747659ED-E90B-1871-8DF1-F0E44F791CA0}"/>
              </a:ext>
            </a:extLst>
          </p:cNvPr>
          <p:cNvSpPr txBox="1"/>
          <p:nvPr/>
        </p:nvSpPr>
        <p:spPr>
          <a:xfrm>
            <a:off x="648219" y="6692775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153A858A-8D80-714B-DBC0-5AE34373A285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39CBE8C-947A-9837-0A53-CFC9A7A9CD95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439AF86-6542-D2E7-BF15-FFA51EA32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12C75BA7-12FB-EA5C-3B5D-D39DAB65C0E7}"/>
              </a:ext>
            </a:extLst>
          </p:cNvPr>
          <p:cNvSpPr txBox="1"/>
          <p:nvPr/>
        </p:nvSpPr>
        <p:spPr>
          <a:xfrm>
            <a:off x="6220868" y="1452400"/>
            <a:ext cx="4511146" cy="3947053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sz="2400" dirty="0">
                <a:solidFill>
                  <a:schemeClr val="bg1"/>
                </a:solidFill>
              </a:rPr>
              <a:t>A tücsök művész jelkép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</a:rPr>
              <a:t>Kicsinyítő jellegű, egyszerű puritán életre utal</a:t>
            </a:r>
          </a:p>
          <a:p>
            <a:pPr algn="ctr"/>
            <a:r>
              <a:rPr lang="hu-HU" sz="2400" dirty="0">
                <a:solidFill>
                  <a:schemeClr val="bg1"/>
                </a:solidFill>
              </a:rPr>
              <a:t>A tücsök hegedű imádása a költői hivatás szeretetét jelentheti</a:t>
            </a:r>
          </a:p>
          <a:p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6800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D30D0-6D29-F06C-C027-2603FB11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9A576DC-F4A3-5639-69A0-B74D0A00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3F7A9D-27E0-7932-67E4-8F0B2B568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C4625A-DE7A-2361-0BFF-A1A0A0FC7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BFD6F6-483D-1DDC-3665-D662D68C8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113AAC3-7FBC-C6A3-3164-9631B929FC10}"/>
              </a:ext>
            </a:extLst>
          </p:cNvPr>
          <p:cNvSpPr txBox="1"/>
          <p:nvPr/>
        </p:nvSpPr>
        <p:spPr>
          <a:xfrm>
            <a:off x="685498" y="2573118"/>
            <a:ext cx="65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17BC5788-81AD-8598-6EA5-F9C7B0AD9786}"/>
              </a:ext>
            </a:extLst>
          </p:cNvPr>
          <p:cNvSpPr txBox="1"/>
          <p:nvPr/>
        </p:nvSpPr>
        <p:spPr>
          <a:xfrm>
            <a:off x="685498" y="2876067"/>
            <a:ext cx="520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F596CF8F-E4FF-A3AF-25D5-8A8CDB050B04}"/>
              </a:ext>
            </a:extLst>
          </p:cNvPr>
          <p:cNvSpPr txBox="1"/>
          <p:nvPr/>
        </p:nvSpPr>
        <p:spPr>
          <a:xfrm>
            <a:off x="688449" y="3142314"/>
            <a:ext cx="56817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7FDC5A9C-1252-1DB2-62AB-1F617EE0CBE0}"/>
              </a:ext>
            </a:extLst>
          </p:cNvPr>
          <p:cNvSpPr txBox="1"/>
          <p:nvPr/>
        </p:nvSpPr>
        <p:spPr>
          <a:xfrm>
            <a:off x="685498" y="3590982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 dirty="0"/>
              <a:t>Ki feszül föl a szivárványra?</a:t>
            </a:r>
            <a:endParaRPr lang="hu-HU" dirty="0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1753121-40EF-842C-30EF-EDD72EB74DE6}"/>
              </a:ext>
            </a:extLst>
          </p:cNvPr>
          <p:cNvSpPr txBox="1"/>
          <p:nvPr/>
        </p:nvSpPr>
        <p:spPr>
          <a:xfrm>
            <a:off x="685498" y="3873960"/>
            <a:ext cx="3206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Lágy hantú mezővé a szikla-</a:t>
            </a:r>
          </a:p>
          <a:p>
            <a:pPr marL="0" indent="0">
              <a:buNone/>
            </a:pPr>
            <a:r>
              <a:rPr lang="hu-HU" sz="1800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AC62CD20-331E-837F-469C-AA0892F78E1D}"/>
              </a:ext>
            </a:extLst>
          </p:cNvPr>
          <p:cNvSpPr txBox="1"/>
          <p:nvPr/>
        </p:nvSpPr>
        <p:spPr>
          <a:xfrm>
            <a:off x="685498" y="4457981"/>
            <a:ext cx="2933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Ki becéz falban megeredt</a:t>
            </a:r>
          </a:p>
          <a:p>
            <a:pPr marL="0" indent="0">
              <a:buNone/>
            </a:pPr>
            <a:r>
              <a:rPr lang="hu-HU" sz="1800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61B40E63-D598-B554-D4F6-DF80448E7BFF}"/>
              </a:ext>
            </a:extLst>
          </p:cNvPr>
          <p:cNvSpPr txBox="1"/>
          <p:nvPr/>
        </p:nvSpPr>
        <p:spPr>
          <a:xfrm>
            <a:off x="685498" y="5058145"/>
            <a:ext cx="348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dúlt hiteknek kicsoda állít</a:t>
            </a:r>
          </a:p>
          <a:p>
            <a:pPr marL="0" indent="0">
              <a:buNone/>
            </a:pPr>
            <a:r>
              <a:rPr lang="hu-HU" sz="18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B9579AC-0C88-C983-431B-3BCDBEA3BAEC}"/>
              </a:ext>
            </a:extLst>
          </p:cNvPr>
          <p:cNvSpPr txBox="1"/>
          <p:nvPr/>
        </p:nvSpPr>
        <p:spPr>
          <a:xfrm>
            <a:off x="685498" y="5653758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3D0D2398-F9F6-105A-CD38-153B56437663}"/>
              </a:ext>
            </a:extLst>
          </p:cNvPr>
          <p:cNvSpPr txBox="1"/>
          <p:nvPr/>
        </p:nvSpPr>
        <p:spPr>
          <a:xfrm>
            <a:off x="685498" y="6237619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1FCBBBAB-FCE4-58D0-93EF-333AAF2FF0EF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A4F664B-ADC2-861E-A3F8-29CD2D9846F2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C999F4E-F5F3-654F-81E7-6CD8A7550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6B4CBB4-B348-F40D-5C49-3515F7C56FF9}"/>
              </a:ext>
            </a:extLst>
          </p:cNvPr>
          <p:cNvSpPr txBox="1"/>
          <p:nvPr/>
        </p:nvSpPr>
        <p:spPr>
          <a:xfrm>
            <a:off x="6220868" y="2560396"/>
            <a:ext cx="4511146" cy="1731061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Ellentét: deres ág         láng  </a:t>
            </a:r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D10FB40C-B59D-1F4A-BED7-B557F225C300}"/>
              </a:ext>
            </a:extLst>
          </p:cNvPr>
          <p:cNvCxnSpPr/>
          <p:nvPr/>
        </p:nvCxnSpPr>
        <p:spPr>
          <a:xfrm>
            <a:off x="8995177" y="3429000"/>
            <a:ext cx="316091" cy="0"/>
          </a:xfrm>
          <a:prstGeom prst="straightConnector1">
            <a:avLst/>
          </a:prstGeom>
          <a:ln w="4762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74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43367-3AE9-25EB-17FF-2415C4BA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83D7768-494B-02B8-CBBE-691E0EF26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01C43B-C7B9-D25C-3540-D5698C08D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2E32D0-94E5-97BF-EFDF-12616F64E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58EB36-531C-8034-F6C7-777E93D00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F6F93C2-3DE9-18C6-DF5C-3C88AD34C2EB}"/>
              </a:ext>
            </a:extLst>
          </p:cNvPr>
          <p:cNvSpPr txBox="1"/>
          <p:nvPr/>
        </p:nvSpPr>
        <p:spPr>
          <a:xfrm>
            <a:off x="769857" y="2358805"/>
            <a:ext cx="320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EE8D2B12-4E9B-EDF9-795F-3760C81EC74B}"/>
              </a:ext>
            </a:extLst>
          </p:cNvPr>
          <p:cNvSpPr txBox="1"/>
          <p:nvPr/>
        </p:nvSpPr>
        <p:spPr>
          <a:xfrm>
            <a:off x="769857" y="2604418"/>
            <a:ext cx="335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976396DA-4CF2-01C8-E0CB-96EA6264A81F}"/>
              </a:ext>
            </a:extLst>
          </p:cNvPr>
          <p:cNvSpPr txBox="1"/>
          <p:nvPr/>
        </p:nvSpPr>
        <p:spPr>
          <a:xfrm>
            <a:off x="769857" y="2850871"/>
            <a:ext cx="568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7E9EB42D-7008-E0D6-40F5-D37DA07C8F0A}"/>
              </a:ext>
            </a:extLst>
          </p:cNvPr>
          <p:cNvSpPr txBox="1"/>
          <p:nvPr/>
        </p:nvSpPr>
        <p:spPr>
          <a:xfrm>
            <a:off x="719883" y="3118753"/>
            <a:ext cx="5453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dirty="0"/>
              <a:t>Ki feszül föl a szivárványra?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1B2D8959-4CF4-34B3-7037-6CA9EE87FAEA}"/>
              </a:ext>
            </a:extLst>
          </p:cNvPr>
          <p:cNvSpPr txBox="1"/>
          <p:nvPr/>
        </p:nvSpPr>
        <p:spPr>
          <a:xfrm>
            <a:off x="719883" y="3542799"/>
            <a:ext cx="3206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Lágy hantú mezővé a szikla-</a:t>
            </a:r>
          </a:p>
          <a:p>
            <a:pPr marL="0" indent="0">
              <a:buNone/>
            </a:pPr>
            <a:r>
              <a:rPr lang="hu-HU" sz="1800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CF65C61-053A-5935-9D5F-49709D9C4344}"/>
              </a:ext>
            </a:extLst>
          </p:cNvPr>
          <p:cNvSpPr txBox="1"/>
          <p:nvPr/>
        </p:nvSpPr>
        <p:spPr>
          <a:xfrm>
            <a:off x="719883" y="4126820"/>
            <a:ext cx="2933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Ki becéz falban megeredt</a:t>
            </a:r>
          </a:p>
          <a:p>
            <a:pPr marL="0" indent="0">
              <a:buNone/>
            </a:pPr>
            <a:r>
              <a:rPr lang="hu-HU" sz="1800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4996714E-6FD3-BEB4-5F95-F7FBCB1914B6}"/>
              </a:ext>
            </a:extLst>
          </p:cNvPr>
          <p:cNvSpPr txBox="1"/>
          <p:nvPr/>
        </p:nvSpPr>
        <p:spPr>
          <a:xfrm>
            <a:off x="719883" y="4726984"/>
            <a:ext cx="348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dúlt hiteknek kicsoda állít</a:t>
            </a:r>
          </a:p>
          <a:p>
            <a:pPr marL="0" indent="0">
              <a:buNone/>
            </a:pPr>
            <a:r>
              <a:rPr lang="hu-HU" sz="18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039AD119-64C6-F961-6889-76F6D29B5435}"/>
              </a:ext>
            </a:extLst>
          </p:cNvPr>
          <p:cNvSpPr txBox="1"/>
          <p:nvPr/>
        </p:nvSpPr>
        <p:spPr>
          <a:xfrm>
            <a:off x="719883" y="5278205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80FE300E-96D3-0EC8-C082-101346A06B47}"/>
              </a:ext>
            </a:extLst>
          </p:cNvPr>
          <p:cNvSpPr txBox="1"/>
          <p:nvPr/>
        </p:nvSpPr>
        <p:spPr>
          <a:xfrm>
            <a:off x="719883" y="5829426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21E7A905-95F2-97A8-7290-CC79FE37627E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6CC09A6-3646-29D5-50A7-E89D83D1A02B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EEE8412-51DB-2B6D-BE07-F7A419E75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EAD351C-7E70-6D80-155B-3FA1A9845968}"/>
              </a:ext>
            </a:extLst>
          </p:cNvPr>
          <p:cNvSpPr txBox="1"/>
          <p:nvPr/>
        </p:nvSpPr>
        <p:spPr>
          <a:xfrm>
            <a:off x="6220868" y="2560396"/>
            <a:ext cx="4511146" cy="1731061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Biblikus elem a szivárvány  </a:t>
            </a:r>
          </a:p>
        </p:txBody>
      </p:sp>
    </p:spTree>
    <p:extLst>
      <p:ext uri="{BB962C8B-B14F-4D97-AF65-F5344CB8AC3E}">
        <p14:creationId xmlns:p14="http://schemas.microsoft.com/office/powerpoint/2010/main" val="603908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1BAD4-73AC-1E0C-751B-03175F14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5D1392F-7524-CBFD-1A9C-6311EF36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B940FA-11CF-C01D-F477-D1825168C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FF001A-B6BF-B1D8-1E66-3E22F78B2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204C24-D84A-E591-CECC-1B6E27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42C918A-89C0-93AA-D7E8-A28C0DFE7139}"/>
              </a:ext>
            </a:extLst>
          </p:cNvPr>
          <p:cNvSpPr txBox="1"/>
          <p:nvPr/>
        </p:nvSpPr>
        <p:spPr>
          <a:xfrm>
            <a:off x="769857" y="2126147"/>
            <a:ext cx="320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48391BC4-3A70-318F-F97B-39206566E69B}"/>
              </a:ext>
            </a:extLst>
          </p:cNvPr>
          <p:cNvSpPr txBox="1"/>
          <p:nvPr/>
        </p:nvSpPr>
        <p:spPr>
          <a:xfrm>
            <a:off x="769857" y="2394436"/>
            <a:ext cx="335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F6A8233D-41BF-3C19-90EF-C1DD7A932B57}"/>
              </a:ext>
            </a:extLst>
          </p:cNvPr>
          <p:cNvSpPr txBox="1"/>
          <p:nvPr/>
        </p:nvSpPr>
        <p:spPr>
          <a:xfrm>
            <a:off x="769857" y="2624328"/>
            <a:ext cx="568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29970D29-2D51-2246-4A57-9DD80CE3E5CF}"/>
              </a:ext>
            </a:extLst>
          </p:cNvPr>
          <p:cNvSpPr txBox="1"/>
          <p:nvPr/>
        </p:nvSpPr>
        <p:spPr>
          <a:xfrm>
            <a:off x="764420" y="2895583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 feszül föl a szivárványra?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3278C4C-71E8-09F5-ACC2-3E59BEF4E6C5}"/>
              </a:ext>
            </a:extLst>
          </p:cNvPr>
          <p:cNvSpPr txBox="1"/>
          <p:nvPr/>
        </p:nvSpPr>
        <p:spPr>
          <a:xfrm>
            <a:off x="707537" y="3119730"/>
            <a:ext cx="5764720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3200" dirty="0"/>
              <a:t>Lágy hantú mezővé a szikla-</a:t>
            </a:r>
          </a:p>
          <a:p>
            <a:pPr marL="0" indent="0">
              <a:buNone/>
            </a:pPr>
            <a:r>
              <a:rPr lang="hu-HU" sz="3200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193FE4FE-0069-7AED-A2B7-E5D8A1C9E3FF}"/>
              </a:ext>
            </a:extLst>
          </p:cNvPr>
          <p:cNvSpPr txBox="1"/>
          <p:nvPr/>
        </p:nvSpPr>
        <p:spPr>
          <a:xfrm>
            <a:off x="719883" y="4126820"/>
            <a:ext cx="2933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Ki becéz falban megeredt</a:t>
            </a:r>
          </a:p>
          <a:p>
            <a:pPr marL="0" indent="0">
              <a:buNone/>
            </a:pPr>
            <a:r>
              <a:rPr lang="hu-HU" sz="1800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36E6CC12-2281-294D-7E25-B2B7BFB46A3F}"/>
              </a:ext>
            </a:extLst>
          </p:cNvPr>
          <p:cNvSpPr txBox="1"/>
          <p:nvPr/>
        </p:nvSpPr>
        <p:spPr>
          <a:xfrm>
            <a:off x="719883" y="4726984"/>
            <a:ext cx="348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dúlt hiteknek kicsoda állít</a:t>
            </a:r>
          </a:p>
          <a:p>
            <a:pPr marL="0" indent="0">
              <a:buNone/>
            </a:pPr>
            <a:r>
              <a:rPr lang="hu-HU" sz="18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054DBE32-28F8-7EFE-2D12-B46428798C27}"/>
              </a:ext>
            </a:extLst>
          </p:cNvPr>
          <p:cNvSpPr txBox="1"/>
          <p:nvPr/>
        </p:nvSpPr>
        <p:spPr>
          <a:xfrm>
            <a:off x="719883" y="5278205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F0BD0692-B3FF-F629-9B44-262E971B73FF}"/>
              </a:ext>
            </a:extLst>
          </p:cNvPr>
          <p:cNvSpPr txBox="1"/>
          <p:nvPr/>
        </p:nvSpPr>
        <p:spPr>
          <a:xfrm>
            <a:off x="719883" y="5829426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C832EF69-34CC-471B-00CE-ABC44DA37CBE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3770903-42ED-3084-5EDA-4F6515F51A88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08C6961-8916-CE05-FDB2-EE23CCC57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F2B87BC2-CF63-F190-1320-31E311D4B49A}"/>
              </a:ext>
            </a:extLst>
          </p:cNvPr>
          <p:cNvSpPr txBox="1"/>
          <p:nvPr/>
        </p:nvSpPr>
        <p:spPr>
          <a:xfrm>
            <a:off x="6648574" y="2079982"/>
            <a:ext cx="4511146" cy="2562058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,,szikla” és a ,,lágy hantú mező” –természet</a:t>
            </a:r>
          </a:p>
          <a:p>
            <a:pPr algn="ctr"/>
            <a:r>
              <a:rPr lang="hu-HU" dirty="0">
                <a:solidFill>
                  <a:schemeClr val="bg1"/>
                </a:solidFill>
              </a:rPr>
              <a:t>,,csípő”, ,,ölelés” és ,,sírás” – </a:t>
            </a:r>
          </a:p>
          <a:p>
            <a:pPr algn="ctr"/>
            <a:r>
              <a:rPr lang="hu-HU" dirty="0">
                <a:solidFill>
                  <a:schemeClr val="bg1"/>
                </a:solidFill>
              </a:rPr>
              <a:t>Ember világa  </a:t>
            </a:r>
          </a:p>
        </p:txBody>
      </p:sp>
    </p:spTree>
    <p:extLst>
      <p:ext uri="{BB962C8B-B14F-4D97-AF65-F5344CB8AC3E}">
        <p14:creationId xmlns:p14="http://schemas.microsoft.com/office/powerpoint/2010/main" val="1859064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2C4C8-61D2-6115-F2CB-EC56B696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3B6AC0-079A-73C7-1307-C4DABDA0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393F49-C700-33A7-13CF-E31489EAA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CA0887-A8FD-4092-53E8-F72B9CD4F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10D1EE-423C-5794-E9CF-57D224580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EB1FA20-88DD-9AAB-5EB7-9CADCC039887}"/>
              </a:ext>
            </a:extLst>
          </p:cNvPr>
          <p:cNvSpPr txBox="1"/>
          <p:nvPr/>
        </p:nvSpPr>
        <p:spPr>
          <a:xfrm>
            <a:off x="776025" y="1640645"/>
            <a:ext cx="320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1508DAE-C594-0BF5-26B8-32C55FF012D8}"/>
              </a:ext>
            </a:extLst>
          </p:cNvPr>
          <p:cNvSpPr txBox="1"/>
          <p:nvPr/>
        </p:nvSpPr>
        <p:spPr>
          <a:xfrm>
            <a:off x="776025" y="1908934"/>
            <a:ext cx="335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84D407DB-B7AB-F8EB-FCD4-D0757CB4543A}"/>
              </a:ext>
            </a:extLst>
          </p:cNvPr>
          <p:cNvSpPr txBox="1"/>
          <p:nvPr/>
        </p:nvSpPr>
        <p:spPr>
          <a:xfrm>
            <a:off x="780677" y="2155833"/>
            <a:ext cx="568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14AAFC0A-6A40-3351-3EF9-0C2761468728}"/>
              </a:ext>
            </a:extLst>
          </p:cNvPr>
          <p:cNvSpPr txBox="1"/>
          <p:nvPr/>
        </p:nvSpPr>
        <p:spPr>
          <a:xfrm>
            <a:off x="769857" y="2376968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 feszül föl a szivárványra?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FBCE2C4-DE59-7740-F1EF-688244B5B7EF}"/>
              </a:ext>
            </a:extLst>
          </p:cNvPr>
          <p:cNvSpPr txBox="1"/>
          <p:nvPr/>
        </p:nvSpPr>
        <p:spPr>
          <a:xfrm>
            <a:off x="769857" y="2618934"/>
            <a:ext cx="3324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dirty="0"/>
              <a:t>Lágy hantú mezővé a szikla-</a:t>
            </a:r>
          </a:p>
          <a:p>
            <a:pPr marL="0" indent="0">
              <a:buNone/>
            </a:pPr>
            <a:r>
              <a:rPr lang="hu-HU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82B7C61-BDDF-CDD2-F7AD-4AA6DF356248}"/>
              </a:ext>
            </a:extLst>
          </p:cNvPr>
          <p:cNvSpPr txBox="1"/>
          <p:nvPr/>
        </p:nvSpPr>
        <p:spPr>
          <a:xfrm>
            <a:off x="795715" y="3102500"/>
            <a:ext cx="5407249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sz="3200" dirty="0"/>
              <a:t>Ki becéz falban megeredt</a:t>
            </a:r>
          </a:p>
          <a:p>
            <a:pPr marL="0" indent="0">
              <a:buNone/>
            </a:pPr>
            <a:r>
              <a:rPr lang="hu-HU" sz="3200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3C32B4C0-0CBD-76F3-3F02-129826B8099D}"/>
              </a:ext>
            </a:extLst>
          </p:cNvPr>
          <p:cNvSpPr txBox="1"/>
          <p:nvPr/>
        </p:nvSpPr>
        <p:spPr>
          <a:xfrm>
            <a:off x="795715" y="4019096"/>
            <a:ext cx="348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dúlt hiteknek kicsoda állít</a:t>
            </a:r>
          </a:p>
          <a:p>
            <a:pPr marL="0" indent="0">
              <a:buNone/>
            </a:pPr>
            <a:r>
              <a:rPr lang="hu-HU" sz="18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2AC56184-2B5F-50F7-5E89-129E75F0935D}"/>
              </a:ext>
            </a:extLst>
          </p:cNvPr>
          <p:cNvSpPr txBox="1"/>
          <p:nvPr/>
        </p:nvSpPr>
        <p:spPr>
          <a:xfrm>
            <a:off x="795715" y="4570317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62B28049-4F04-FCD5-0BDA-A952377C6EEF}"/>
              </a:ext>
            </a:extLst>
          </p:cNvPr>
          <p:cNvSpPr txBox="1"/>
          <p:nvPr/>
        </p:nvSpPr>
        <p:spPr>
          <a:xfrm>
            <a:off x="795715" y="5121538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B029A8DA-7D88-A424-8E2A-DC8CB7EAD3D3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3BFA125-0EBD-0E83-1C1F-1C357970776B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E6D6300-49AE-6D9D-CC4A-E922F6895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540B8B0-DAD6-BAFC-EA7E-6C93A6F81CAE}"/>
              </a:ext>
            </a:extLst>
          </p:cNvPr>
          <p:cNvSpPr txBox="1"/>
          <p:nvPr/>
        </p:nvSpPr>
        <p:spPr>
          <a:xfrm>
            <a:off x="6648574" y="2218482"/>
            <a:ext cx="4511146" cy="2285059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Ez a kép az előzőre épül: </a:t>
            </a:r>
          </a:p>
          <a:p>
            <a:pPr algn="ctr"/>
            <a:r>
              <a:rPr lang="hu-HU" dirty="0">
                <a:solidFill>
                  <a:schemeClr val="bg1"/>
                </a:solidFill>
              </a:rPr>
              <a:t>Sziklát a fal , csípőt a hajak és a verőerek veszik át</a:t>
            </a:r>
          </a:p>
        </p:txBody>
      </p:sp>
    </p:spTree>
    <p:extLst>
      <p:ext uri="{BB962C8B-B14F-4D97-AF65-F5344CB8AC3E}">
        <p14:creationId xmlns:p14="http://schemas.microsoft.com/office/powerpoint/2010/main" val="1518423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191F1-00E1-F4D2-66C8-D4F0E350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10E687-3CF9-6F5E-BA5F-E9A214E5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D73A8D-1853-9350-1C9A-59338B88D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8EC3B3-0A78-7B21-B33F-943D6DDA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02D16C-F46A-3B20-770E-BDF267D13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E9E8BCF9-DA66-46CB-068C-655E63D0DE34}"/>
              </a:ext>
            </a:extLst>
          </p:cNvPr>
          <p:cNvSpPr txBox="1"/>
          <p:nvPr/>
        </p:nvSpPr>
        <p:spPr>
          <a:xfrm>
            <a:off x="822999" y="1210212"/>
            <a:ext cx="320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4ECB2EBD-B981-3B56-F600-6CD7D06C1BD4}"/>
              </a:ext>
            </a:extLst>
          </p:cNvPr>
          <p:cNvSpPr txBox="1"/>
          <p:nvPr/>
        </p:nvSpPr>
        <p:spPr>
          <a:xfrm>
            <a:off x="822999" y="1478501"/>
            <a:ext cx="335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9B764CA-A969-2199-7EAC-D8B0FBD05690}"/>
              </a:ext>
            </a:extLst>
          </p:cNvPr>
          <p:cNvSpPr txBox="1"/>
          <p:nvPr/>
        </p:nvSpPr>
        <p:spPr>
          <a:xfrm>
            <a:off x="822999" y="1715174"/>
            <a:ext cx="568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DE071EE1-7855-EF2F-72BD-57C683C5FFD6}"/>
              </a:ext>
            </a:extLst>
          </p:cNvPr>
          <p:cNvSpPr txBox="1"/>
          <p:nvPr/>
        </p:nvSpPr>
        <p:spPr>
          <a:xfrm>
            <a:off x="826258" y="1956274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 feszül föl a szivárványra?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2CA98A55-D2DC-57A1-8439-8CD7278F4ABE}"/>
              </a:ext>
            </a:extLst>
          </p:cNvPr>
          <p:cNvSpPr txBox="1"/>
          <p:nvPr/>
        </p:nvSpPr>
        <p:spPr>
          <a:xfrm>
            <a:off x="814924" y="2173329"/>
            <a:ext cx="3324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kern="700" dirty="0"/>
              <a:t>Lágy hantú mezővé a szikla-</a:t>
            </a:r>
          </a:p>
          <a:p>
            <a:pPr marL="0" indent="0">
              <a:buNone/>
            </a:pPr>
            <a:r>
              <a:rPr lang="hu-HU" kern="700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61711224-66C0-D0CC-4A75-AAD37C467A90}"/>
              </a:ext>
            </a:extLst>
          </p:cNvPr>
          <p:cNvSpPr txBox="1"/>
          <p:nvPr/>
        </p:nvSpPr>
        <p:spPr>
          <a:xfrm>
            <a:off x="837478" y="2659038"/>
            <a:ext cx="3126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dirty="0"/>
              <a:t>Ki becéz falban megeredt</a:t>
            </a:r>
          </a:p>
          <a:p>
            <a:pPr marL="0" indent="0">
              <a:buNone/>
            </a:pPr>
            <a:r>
              <a:rPr lang="hu-HU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CBB705B-1387-DCA1-0131-FDBF4B77BE2F}"/>
              </a:ext>
            </a:extLst>
          </p:cNvPr>
          <p:cNvSpPr txBox="1"/>
          <p:nvPr/>
        </p:nvSpPr>
        <p:spPr>
          <a:xfrm>
            <a:off x="814924" y="3110302"/>
            <a:ext cx="568176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3200" dirty="0"/>
              <a:t>S dúlt hiteknek kicsoda állít</a:t>
            </a:r>
          </a:p>
          <a:p>
            <a:pPr marL="0" indent="0">
              <a:buNone/>
            </a:pPr>
            <a:r>
              <a:rPr lang="hu-HU" sz="3200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B726ED38-07EB-CAE1-277D-BA5851CAC4B9}"/>
              </a:ext>
            </a:extLst>
          </p:cNvPr>
          <p:cNvSpPr txBox="1"/>
          <p:nvPr/>
        </p:nvSpPr>
        <p:spPr>
          <a:xfrm>
            <a:off x="825187" y="4124245"/>
            <a:ext cx="373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Létem ha végleg </a:t>
            </a:r>
            <a:r>
              <a:rPr lang="hu-HU" sz="1800" dirty="0" err="1"/>
              <a:t>lemerűlt</a:t>
            </a:r>
            <a:r>
              <a:rPr lang="hu-HU" sz="1800" dirty="0"/>
              <a:t>,</a:t>
            </a:r>
          </a:p>
          <a:p>
            <a:pPr marL="0" indent="0">
              <a:buNone/>
            </a:pPr>
            <a:r>
              <a:rPr lang="hu-HU" sz="18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91F33D10-321D-A1A8-5F1F-C4A218ABFD02}"/>
              </a:ext>
            </a:extLst>
          </p:cNvPr>
          <p:cNvSpPr txBox="1"/>
          <p:nvPr/>
        </p:nvSpPr>
        <p:spPr>
          <a:xfrm>
            <a:off x="825187" y="4675466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D129BD45-8DDE-C8A9-3853-A2B30C830F29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0DCF714-1D21-B82B-978E-AC6FFA7E1960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8D09027-326E-8A1A-6AD2-F37D6E3AF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41A5DDF-BA6F-D0E3-D41E-FA4D5D553900}"/>
              </a:ext>
            </a:extLst>
          </p:cNvPr>
          <p:cNvSpPr txBox="1"/>
          <p:nvPr/>
        </p:nvSpPr>
        <p:spPr>
          <a:xfrm>
            <a:off x="6648574" y="2356982"/>
            <a:ext cx="4511146" cy="2008060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Katedrális pozitív értékeket jelképez – biblikus </a:t>
            </a:r>
          </a:p>
        </p:txBody>
      </p:sp>
    </p:spTree>
    <p:extLst>
      <p:ext uri="{BB962C8B-B14F-4D97-AF65-F5344CB8AC3E}">
        <p14:creationId xmlns:p14="http://schemas.microsoft.com/office/powerpoint/2010/main" val="2090991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10B08-AC9B-1D38-10A2-CE7E47BD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849E09F-EECE-AB0F-4A5B-A2DACBBF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E93223-AB24-5E0B-A82E-3064A02DC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3958D-E16E-1946-0801-144712059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EC1C0B-2E68-0804-36BF-0ABE69C5E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7AA35B41-2BA1-BE58-4A79-A42E8937AEF5}"/>
              </a:ext>
            </a:extLst>
          </p:cNvPr>
          <p:cNvSpPr txBox="1"/>
          <p:nvPr/>
        </p:nvSpPr>
        <p:spPr>
          <a:xfrm>
            <a:off x="836407" y="623932"/>
            <a:ext cx="320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F7AF3081-9EB1-96F6-A8A2-F3737F52E608}"/>
              </a:ext>
            </a:extLst>
          </p:cNvPr>
          <p:cNvSpPr txBox="1"/>
          <p:nvPr/>
        </p:nvSpPr>
        <p:spPr>
          <a:xfrm>
            <a:off x="836407" y="892221"/>
            <a:ext cx="335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A8B553B2-0465-D17E-8EDE-E8F2318F8BC2}"/>
              </a:ext>
            </a:extLst>
          </p:cNvPr>
          <p:cNvSpPr txBox="1"/>
          <p:nvPr/>
        </p:nvSpPr>
        <p:spPr>
          <a:xfrm>
            <a:off x="836407" y="1115761"/>
            <a:ext cx="568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C2F49116-C94D-0F9B-9687-702D1B606D95}"/>
              </a:ext>
            </a:extLst>
          </p:cNvPr>
          <p:cNvSpPr txBox="1"/>
          <p:nvPr/>
        </p:nvSpPr>
        <p:spPr>
          <a:xfrm>
            <a:off x="836407" y="1338040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 feszül föl a szivárványra?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8F360A18-F36D-071D-A5D3-3D0D3FACE01A}"/>
              </a:ext>
            </a:extLst>
          </p:cNvPr>
          <p:cNvSpPr txBox="1"/>
          <p:nvPr/>
        </p:nvSpPr>
        <p:spPr>
          <a:xfrm>
            <a:off x="836407" y="1533146"/>
            <a:ext cx="3324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dirty="0"/>
              <a:t>Lágy hantú mezővé a szikla-</a:t>
            </a:r>
          </a:p>
          <a:p>
            <a:pPr marL="0" indent="0">
              <a:buNone/>
            </a:pPr>
            <a:r>
              <a:rPr lang="hu-HU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19095A24-0B6D-821F-FECC-D32A4E4D396D}"/>
              </a:ext>
            </a:extLst>
          </p:cNvPr>
          <p:cNvSpPr txBox="1"/>
          <p:nvPr/>
        </p:nvSpPr>
        <p:spPr>
          <a:xfrm>
            <a:off x="858849" y="2059664"/>
            <a:ext cx="3126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dirty="0"/>
              <a:t>Ki becéz falban megeredt</a:t>
            </a:r>
          </a:p>
          <a:p>
            <a:pPr marL="0" indent="0">
              <a:buNone/>
            </a:pPr>
            <a:r>
              <a:rPr lang="hu-HU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7996ECE2-B662-DF42-E541-F2A00D2FA932}"/>
              </a:ext>
            </a:extLst>
          </p:cNvPr>
          <p:cNvSpPr txBox="1"/>
          <p:nvPr/>
        </p:nvSpPr>
        <p:spPr>
          <a:xfrm>
            <a:off x="863823" y="2563886"/>
            <a:ext cx="5681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S dúlt hiteknek kicsoda állít</a:t>
            </a:r>
          </a:p>
          <a:p>
            <a:pPr marL="0" indent="0">
              <a:buNone/>
            </a:pPr>
            <a:r>
              <a:rPr lang="hu-HU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D5793756-E4DD-C8CE-D479-3E98276A56CF}"/>
              </a:ext>
            </a:extLst>
          </p:cNvPr>
          <p:cNvSpPr txBox="1"/>
          <p:nvPr/>
        </p:nvSpPr>
        <p:spPr>
          <a:xfrm>
            <a:off x="836407" y="3140766"/>
            <a:ext cx="558566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3200" dirty="0"/>
              <a:t>Létem ha végleg </a:t>
            </a:r>
            <a:r>
              <a:rPr lang="hu-HU" sz="3200" dirty="0" err="1"/>
              <a:t>lemerűlt</a:t>
            </a:r>
            <a:r>
              <a:rPr lang="hu-HU" sz="3200" dirty="0"/>
              <a:t>,</a:t>
            </a:r>
          </a:p>
          <a:p>
            <a:pPr marL="0" indent="0">
              <a:buNone/>
            </a:pPr>
            <a:r>
              <a:rPr lang="hu-HU" sz="3200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23259F35-5916-DAD6-6D48-DDA747A69CD2}"/>
              </a:ext>
            </a:extLst>
          </p:cNvPr>
          <p:cNvSpPr txBox="1"/>
          <p:nvPr/>
        </p:nvSpPr>
        <p:spPr>
          <a:xfrm>
            <a:off x="841459" y="4033318"/>
            <a:ext cx="416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1800" dirty="0"/>
              <a:t>S ki viszi át fogában tartva</a:t>
            </a:r>
          </a:p>
          <a:p>
            <a:pPr marL="0" indent="0">
              <a:buNone/>
            </a:pPr>
            <a:r>
              <a:rPr lang="hu-HU" sz="18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46D82121-EA3A-B5F1-828C-B5E0E6D37B2C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07B51B7-703C-A212-3836-5C22B504BED6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0F595FC-375E-486A-ABCA-431BDFA95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3D62337-037C-3A97-D8B4-FD56DF0FA876}"/>
              </a:ext>
            </a:extLst>
          </p:cNvPr>
          <p:cNvSpPr txBox="1"/>
          <p:nvPr/>
        </p:nvSpPr>
        <p:spPr>
          <a:xfrm>
            <a:off x="6648574" y="2495481"/>
            <a:ext cx="4511146" cy="1731061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A keselyű a pusztulás jelképe</a:t>
            </a:r>
          </a:p>
        </p:txBody>
      </p:sp>
    </p:spTree>
    <p:extLst>
      <p:ext uri="{BB962C8B-B14F-4D97-AF65-F5344CB8AC3E}">
        <p14:creationId xmlns:p14="http://schemas.microsoft.com/office/powerpoint/2010/main" val="2739792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0F2F4-0DFC-1C5D-B90C-DEB3D586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80FD3D-DDE8-C50F-8844-36A0521F1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4A788C-8F4B-6CDE-DE0B-572652109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F0EEDF-8EE9-F7E3-8B85-6791CC0DE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B0FAF-35BB-18E0-1D61-FBB3D30E3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00C56C1-2D74-DB63-648B-60A854A3A15D}"/>
              </a:ext>
            </a:extLst>
          </p:cNvPr>
          <p:cNvSpPr txBox="1"/>
          <p:nvPr/>
        </p:nvSpPr>
        <p:spPr>
          <a:xfrm>
            <a:off x="836407" y="200372"/>
            <a:ext cx="320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D51667A7-D127-358A-0E96-E8792476108F}"/>
              </a:ext>
            </a:extLst>
          </p:cNvPr>
          <p:cNvSpPr txBox="1"/>
          <p:nvPr/>
        </p:nvSpPr>
        <p:spPr>
          <a:xfrm>
            <a:off x="836407" y="468661"/>
            <a:ext cx="335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ki imád tücsök-hegedűt?</a:t>
            </a:r>
          </a:p>
          <a:p>
            <a:endParaRPr lang="hu-HU" dirty="0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D6F53460-0760-EBAB-8CA7-24FA55531025}"/>
              </a:ext>
            </a:extLst>
          </p:cNvPr>
          <p:cNvSpPr txBox="1"/>
          <p:nvPr/>
        </p:nvSpPr>
        <p:spPr>
          <a:xfrm>
            <a:off x="793502" y="650508"/>
            <a:ext cx="568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Lángot ki lehel deres ágra?</a:t>
            </a:r>
          </a:p>
          <a:p>
            <a:endParaRPr lang="hu-HU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55DC5736-97E7-E82A-E172-896745A9D7E7}"/>
              </a:ext>
            </a:extLst>
          </p:cNvPr>
          <p:cNvSpPr txBox="1"/>
          <p:nvPr/>
        </p:nvSpPr>
        <p:spPr>
          <a:xfrm>
            <a:off x="807797" y="883862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 feszül föl a szivárványra?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30F3FF5-0564-0A6E-DFEB-BBF639D421E2}"/>
              </a:ext>
            </a:extLst>
          </p:cNvPr>
          <p:cNvSpPr txBox="1"/>
          <p:nvPr/>
        </p:nvSpPr>
        <p:spPr>
          <a:xfrm>
            <a:off x="817295" y="1104177"/>
            <a:ext cx="3324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dirty="0"/>
              <a:t>Lágy hantú mezővé a szikla-</a:t>
            </a:r>
          </a:p>
          <a:p>
            <a:pPr marL="0" indent="0">
              <a:buNone/>
            </a:pPr>
            <a:r>
              <a:rPr lang="hu-HU" dirty="0"/>
              <a:t>csípőket ki öleli sírva?</a:t>
            </a:r>
          </a:p>
          <a:p>
            <a:endParaRPr lang="hu-HU" dirty="0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34B14A20-CC2A-1575-3E9A-2D312B73D347}"/>
              </a:ext>
            </a:extLst>
          </p:cNvPr>
          <p:cNvSpPr txBox="1"/>
          <p:nvPr/>
        </p:nvSpPr>
        <p:spPr>
          <a:xfrm>
            <a:off x="830239" y="1604826"/>
            <a:ext cx="3126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hu-HU" dirty="0"/>
              <a:t>Ki becéz falban megeredt</a:t>
            </a:r>
          </a:p>
          <a:p>
            <a:pPr marL="0" indent="0">
              <a:buNone/>
            </a:pPr>
            <a:r>
              <a:rPr lang="hu-HU" dirty="0"/>
              <a:t>hajakat, verőereket?</a:t>
            </a:r>
          </a:p>
          <a:p>
            <a:endParaRPr lang="hu-HU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1FA88FE4-D872-074D-4DCC-FB4D86ED54A5}"/>
              </a:ext>
            </a:extLst>
          </p:cNvPr>
          <p:cNvSpPr txBox="1"/>
          <p:nvPr/>
        </p:nvSpPr>
        <p:spPr>
          <a:xfrm>
            <a:off x="830239" y="2122574"/>
            <a:ext cx="5681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S dúlt hiteknek kicsoda állít</a:t>
            </a:r>
          </a:p>
          <a:p>
            <a:pPr marL="0" indent="0">
              <a:buNone/>
            </a:pPr>
            <a:r>
              <a:rPr lang="hu-HU" dirty="0"/>
              <a:t>káromkodásból katedrálist?</a:t>
            </a:r>
          </a:p>
          <a:p>
            <a:endParaRPr lang="hu-HU" dirty="0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3D6FC045-A94B-C3D0-CB0E-39D4E7BE1FF2}"/>
              </a:ext>
            </a:extLst>
          </p:cNvPr>
          <p:cNvSpPr txBox="1"/>
          <p:nvPr/>
        </p:nvSpPr>
        <p:spPr>
          <a:xfrm>
            <a:off x="830239" y="2640322"/>
            <a:ext cx="3896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dirty="0"/>
              <a:t>Létem ha végleg </a:t>
            </a:r>
            <a:r>
              <a:rPr lang="hu-HU" dirty="0" err="1"/>
              <a:t>lemerűlt</a:t>
            </a:r>
            <a:r>
              <a:rPr lang="hu-HU" dirty="0"/>
              <a:t>,</a:t>
            </a:r>
          </a:p>
          <a:p>
            <a:pPr marL="0" indent="0">
              <a:buNone/>
            </a:pPr>
            <a:r>
              <a:rPr lang="hu-HU" dirty="0"/>
              <a:t>ki rettenti a keselyűt!</a:t>
            </a:r>
          </a:p>
          <a:p>
            <a:endParaRPr lang="hu-HU" dirty="0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81C254BF-149F-47DE-E4B4-87ED7CBE22E6}"/>
              </a:ext>
            </a:extLst>
          </p:cNvPr>
          <p:cNvSpPr txBox="1"/>
          <p:nvPr/>
        </p:nvSpPr>
        <p:spPr>
          <a:xfrm>
            <a:off x="835090" y="3145790"/>
            <a:ext cx="533853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hu-HU" sz="3200" dirty="0"/>
              <a:t>S ki viszi át fogában tartva</a:t>
            </a:r>
          </a:p>
          <a:p>
            <a:pPr marL="0" indent="0">
              <a:buNone/>
            </a:pPr>
            <a:r>
              <a:rPr lang="hu-HU" sz="3200" dirty="0"/>
              <a:t>a Szerelmet a túlsó partra!</a:t>
            </a:r>
          </a:p>
          <a:p>
            <a:endParaRPr lang="hu-HU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E5BACA25-EFD8-59AA-2281-26EFD7499824}"/>
              </a:ext>
            </a:extLst>
          </p:cNvPr>
          <p:cNvSpPr txBox="1"/>
          <p:nvPr/>
        </p:nvSpPr>
        <p:spPr>
          <a:xfrm>
            <a:off x="0" y="0"/>
            <a:ext cx="10437812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90985DD-4867-FEDE-7B4B-5FC1CD5C0A84}"/>
              </a:ext>
            </a:extLst>
          </p:cNvPr>
          <p:cNvSpPr txBox="1"/>
          <p:nvPr/>
        </p:nvSpPr>
        <p:spPr>
          <a:xfrm>
            <a:off x="0" y="6050059"/>
            <a:ext cx="12192000" cy="7777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CE66A07-69B8-5C60-79A7-24CC51CB8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" y="801794"/>
            <a:ext cx="5749026" cy="100526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BECAC95-7E13-E0F2-B049-4885E0EE8FDB}"/>
              </a:ext>
            </a:extLst>
          </p:cNvPr>
          <p:cNvSpPr txBox="1"/>
          <p:nvPr/>
        </p:nvSpPr>
        <p:spPr>
          <a:xfrm>
            <a:off x="6648574" y="2495481"/>
            <a:ext cx="4511146" cy="1731061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w="342900" prst="softRound"/>
            <a:bevelB/>
          </a:sp3d>
        </p:spPr>
        <p:txBody>
          <a:bodyPr wrap="square" tIns="720000" bIns="720000" rtlCol="0" anchor="ctr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Vers zárlata</a:t>
            </a:r>
          </a:p>
        </p:txBody>
      </p:sp>
    </p:spTree>
    <p:extLst>
      <p:ext uri="{BB962C8B-B14F-4D97-AF65-F5344CB8AC3E}">
        <p14:creationId xmlns:p14="http://schemas.microsoft.com/office/powerpoint/2010/main" val="2426958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9765B0-25CE-42EF-454B-32BA239F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F8DC0B-B38D-85FB-5ADF-18A16D0E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Nagy László életművének egyik csúcsa</a:t>
            </a:r>
          </a:p>
          <a:p>
            <a:r>
              <a:rPr lang="hu-HU" sz="2400" dirty="0"/>
              <a:t>Erkölcsi kiáltvány a szeretet, emberség mellett</a:t>
            </a:r>
          </a:p>
          <a:p>
            <a:r>
              <a:rPr lang="hu-HU" sz="2400" dirty="0"/>
              <a:t>Minden korszakban megszólítja az olvasót</a:t>
            </a:r>
          </a:p>
        </p:txBody>
      </p:sp>
    </p:spTree>
    <p:extLst>
      <p:ext uri="{BB962C8B-B14F-4D97-AF65-F5344CB8AC3E}">
        <p14:creationId xmlns:p14="http://schemas.microsoft.com/office/powerpoint/2010/main" val="1836793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624762D-D155-514F-FB38-E7BB678F4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1" y="1169773"/>
            <a:ext cx="8825658" cy="28701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5400" dirty="0">
                <a:solidFill>
                  <a:schemeClr val="tx1"/>
                </a:solidFill>
              </a:rPr>
              <a:t>Köszönöm a figyelmet!</a:t>
            </a:r>
            <a:endParaRPr lang="en-US" sz="54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152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tanácsterem">
  <a:themeElements>
    <a:clrScheme name="Ion tanácstere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tanácstere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tanácstere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2047</TotalTime>
  <Words>1931</Words>
  <Application>Microsoft Office PowerPoint</Application>
  <PresentationFormat>Szélesvásznú</PresentationFormat>
  <Paragraphs>263</Paragraphs>
  <Slides>18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8" baseType="lpstr">
      <vt:lpstr>Yu Gothic Light</vt:lpstr>
      <vt:lpstr>Agency FB</vt:lpstr>
      <vt:lpstr>Aptos</vt:lpstr>
      <vt:lpstr>Aptos Mono</vt:lpstr>
      <vt:lpstr>Arial</vt:lpstr>
      <vt:lpstr>Century Gothic</vt:lpstr>
      <vt:lpstr>Times New Roman</vt:lpstr>
      <vt:lpstr>verdana</vt:lpstr>
      <vt:lpstr>Wingdings 3</vt:lpstr>
      <vt:lpstr>Ion tanácsterem</vt:lpstr>
      <vt:lpstr>Nagy László: Ki viszi át a szerelmet</vt:lpstr>
      <vt:lpstr>Nagy László (1925-1978)</vt:lpstr>
      <vt:lpstr>Nagy László</vt:lpstr>
      <vt:lpstr>Ki viszi át a szerelmet</vt:lpstr>
      <vt:lpstr> Létem ha végleg lemerűlt, ki imád tücsök-hegedűt? Lángot ki lehel deres ágra? Ki feszül föl a szivárványra? Lágy hantú mezővé a szikla- csípőket ki öleli sírva? Ki becéz falban megeredt hajakat, verőereket? S dúlt hiteknek kicsoda állít káromkodásból katedrálist? Létem ha végleg lemerűlt, ki rettenti a keselyűt! S ki viszi át fogában tartva a Szerelmet a túlsó partra! </vt:lpstr>
      <vt:lpstr>Ki viszi át a szerelmet</vt:lpstr>
      <vt:lpstr>A költő szerepe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Összegzés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Nagy László: Ki viszi át a szerelmet</dc:title>
  <dc:creator>Détári Viktória</dc:creator>
  <cp:lastModifiedBy>Détári Viktória</cp:lastModifiedBy>
  <cp:revision>10</cp:revision>
  <dcterms:created xsi:type="dcterms:W3CDTF">2025-03-19T14:46:20Z</dcterms:created>
  <dcterms:modified xsi:type="dcterms:W3CDTF">2025-03-21T11:24:29Z</dcterms:modified>
</cp:coreProperties>
</file>